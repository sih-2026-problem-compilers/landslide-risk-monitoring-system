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948" dt="2026-09-08T19:03:19.677"/>
    <p1510:client id="{16481374-A6F0-CB2B-9A62-68049BA58768}" v="76" dt="2026-09-08T06:56:55.838"/>
    <p1510:client id="{352F3879-1EDF-DCC0-741B-126D850C4307}" v="11" dt="2026-09-09T03:15:40.347"/>
    <p1510:client id="{599E6BAD-8396-D7E9-CC81-EBF995615547}" v="136" dt="2026-09-07T09:10:02.231"/>
    <p1510:client id="{7F108D93-59DB-4E44-B5EE-1EEFB19A3BC9}" v="58" dt="2026-09-07T15:05:03.657"/>
    <p1510:client id="{9C31DA56-468F-8F3C-2BBC-54B9E60A31E9}" v="2" dt="2026-09-08T08:13:41.913"/>
    <p1510:client id="{BC0C5AC8-2C62-BCFE-8B7B-6E484707DF06}" v="23" dt="2026-09-07T08:48:20.170"/>
    <p1510:client id="{BECC2148-ACEE-3332-32F1-64AD743266BB}" v="18" dt="2026-09-08T09:09:04.397"/>
    <p1510:client id="{DC30280A-346D-10DF-B62F-BB7DAF4393FB}" v="36" dt="2026-09-07T18:08:17.908"/>
    <p1510:client id="{E2763929-608C-465D-EAD8-DB8B604D0D2E}" v="26" dt="2026-09-08T17:11:14.285"/>
    <p1510:client id="{FA45DE31-8DB8-110E-29E1-CE194BC1C8B7}" v="1" dt="2026-09-08T16:23:12.9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E3F0F0-98B8-4817-935F-162528D9ABE0}" type="doc">
      <dgm:prSet loTypeId="urn:microsoft.com/office/officeart/2005/8/layout/hList1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04BA74DA-C893-4B82-AC6D-792F51872AF9}">
      <dgm:prSet phldrT="[Text]" phldr="0"/>
      <dgm:spPr/>
      <dgm:t>
        <a:bodyPr/>
        <a:lstStyle/>
        <a:p>
          <a:pPr rtl="0"/>
          <a:r>
            <a:rPr lang="en-US" sz="1800" b="1">
              <a:latin typeface="Calibri"/>
            </a:rPr>
            <a:t>Social </a:t>
          </a:r>
          <a:r>
            <a:rPr lang="en-US" sz="1800">
              <a:latin typeface="Calibri"/>
            </a:rPr>
            <a:t>: Helps reduce Risk to life and improve community </a:t>
          </a:r>
          <a:r>
            <a:rPr lang="en-US" sz="1800" b="0">
              <a:latin typeface="Calibri"/>
            </a:rPr>
            <a:t>saftey</a:t>
          </a:r>
        </a:p>
      </dgm:t>
    </dgm:pt>
    <dgm:pt modelId="{E733A211-0B3C-41B3-8594-108A65D5DB8D}" type="parTrans" cxnId="{AAF9AB10-0405-4073-90B2-29AC3E382FDA}">
      <dgm:prSet/>
      <dgm:spPr/>
      <dgm:t>
        <a:bodyPr/>
        <a:lstStyle/>
        <a:p>
          <a:endParaRPr lang="en-US"/>
        </a:p>
      </dgm:t>
    </dgm:pt>
    <dgm:pt modelId="{0596240D-4B0A-4A39-A039-FACE7E6CE8C6}" type="sibTrans" cxnId="{AAF9AB10-0405-4073-90B2-29AC3E382FDA}">
      <dgm:prSet/>
      <dgm:spPr/>
      <dgm:t>
        <a:bodyPr/>
        <a:lstStyle/>
        <a:p>
          <a:endParaRPr lang="en-US"/>
        </a:p>
      </dgm:t>
    </dgm:pt>
    <dgm:pt modelId="{BAC60FD2-C798-4A65-850D-CA54F572DD1F}">
      <dgm:prSet phldrT="[Text]" phldr="0"/>
      <dgm:spPr/>
      <dgm:t>
        <a:bodyPr/>
        <a:lstStyle/>
        <a:p>
          <a:pPr rtl="0"/>
          <a:r>
            <a:rPr lang="en-US" b="1">
              <a:latin typeface="Calibri"/>
            </a:rPr>
            <a:t>Impact on Target Audience</a:t>
          </a:r>
          <a:endParaRPr lang="en-US" b="0">
            <a:latin typeface="Calibri"/>
          </a:endParaRPr>
        </a:p>
      </dgm:t>
    </dgm:pt>
    <dgm:pt modelId="{24AED518-B0A1-4E89-9E59-1C845E80BE85}" type="parTrans" cxnId="{8DE04EFE-BCBA-4207-A159-6079ED804CF2}">
      <dgm:prSet/>
      <dgm:spPr/>
    </dgm:pt>
    <dgm:pt modelId="{BB96952F-99C0-427C-B1F6-6CA119C8344A}" type="sibTrans" cxnId="{8DE04EFE-BCBA-4207-A159-6079ED804CF2}">
      <dgm:prSet/>
      <dgm:spPr/>
    </dgm:pt>
    <dgm:pt modelId="{01328B64-72D6-450B-8270-5112CC9DB8E5}">
      <dgm:prSet phldrT="[Text]" phldr="0"/>
      <dgm:spPr/>
      <dgm:t>
        <a:bodyPr/>
        <a:lstStyle/>
        <a:p>
          <a:pPr algn="l" rtl="0"/>
          <a:r>
            <a:rPr lang="en-US" sz="1400" b="1">
              <a:latin typeface="Calibri"/>
            </a:rPr>
            <a:t>Higher Authorities:</a:t>
          </a:r>
          <a:r>
            <a:rPr lang="en-US" sz="1400" b="0">
              <a:latin typeface="Calibri"/>
            </a:rPr>
            <a:t> Faster identification of </a:t>
          </a:r>
          <a:r>
            <a:rPr lang="en-US" sz="1800" b="0">
              <a:latin typeface="Calibri"/>
            </a:rPr>
            <a:t>high-risk areas</a:t>
          </a:r>
          <a:r>
            <a:rPr lang="en-US" b="0">
              <a:latin typeface="Calibri"/>
            </a:rPr>
            <a:t> for timely action </a:t>
          </a:r>
          <a:endParaRPr lang="en-US" sz="1400" b="0">
            <a:latin typeface="Calibri"/>
          </a:endParaRPr>
        </a:p>
      </dgm:t>
    </dgm:pt>
    <dgm:pt modelId="{82543F57-8270-4DC2-91DC-64932EE07828}" type="parTrans" cxnId="{0163D4EB-CEF2-4BFB-9DAB-A2E47B514F07}">
      <dgm:prSet/>
      <dgm:spPr/>
    </dgm:pt>
    <dgm:pt modelId="{C1C00979-7127-4472-BAC2-0035FD016664}" type="sibTrans" cxnId="{0163D4EB-CEF2-4BFB-9DAB-A2E47B514F07}">
      <dgm:prSet/>
      <dgm:spPr/>
    </dgm:pt>
    <dgm:pt modelId="{175E05F7-039E-4100-8E73-7D943B8003FC}">
      <dgm:prSet phldrT="[Text]" phldr="0"/>
      <dgm:spPr/>
      <dgm:t>
        <a:bodyPr/>
        <a:lstStyle/>
        <a:p>
          <a:pPr rtl="0"/>
          <a:r>
            <a:rPr lang="en-US" b="1">
              <a:latin typeface="Calibri"/>
            </a:rPr>
            <a:t>Field &amp; Rescue Teams:</a:t>
          </a:r>
          <a:r>
            <a:rPr lang="en-US" b="0">
              <a:latin typeface="Calibri"/>
            </a:rPr>
            <a:t> Better prioritization of inspections and emergency response </a:t>
          </a:r>
        </a:p>
      </dgm:t>
    </dgm:pt>
    <dgm:pt modelId="{18D1F450-8582-4D12-98CF-097564E16D6A}" type="parTrans" cxnId="{EF9CF976-4E88-4B2C-9AC1-B16C52B0FFCB}">
      <dgm:prSet/>
      <dgm:spPr/>
    </dgm:pt>
    <dgm:pt modelId="{CBC536AD-1FFC-4B1F-9638-14D4E9F990CB}" type="sibTrans" cxnId="{EF9CF976-4E88-4B2C-9AC1-B16C52B0FFCB}">
      <dgm:prSet/>
      <dgm:spPr/>
    </dgm:pt>
    <dgm:pt modelId="{B551AF3A-DF85-4A4C-AD15-19D4031670C3}">
      <dgm:prSet phldrT="[Text]" phldr="0"/>
      <dgm:spPr/>
      <dgm:t>
        <a:bodyPr/>
        <a:lstStyle/>
        <a:p>
          <a:pPr rtl="0"/>
          <a:r>
            <a:rPr lang="en-US" b="1">
              <a:latin typeface="Calibri"/>
            </a:rPr>
            <a:t>Local Communities:</a:t>
          </a:r>
          <a:r>
            <a:rPr lang="en-US" b="0">
              <a:latin typeface="Calibri"/>
            </a:rPr>
            <a:t> Early warnings with more time to take precautions </a:t>
          </a:r>
        </a:p>
      </dgm:t>
    </dgm:pt>
    <dgm:pt modelId="{37C6D552-CF9D-4909-BADD-06DD9FB3E320}" type="parTrans" cxnId="{64B23B76-DF15-4F75-B60A-7D8363086F72}">
      <dgm:prSet/>
      <dgm:spPr/>
    </dgm:pt>
    <dgm:pt modelId="{1FED0AB3-7F34-4368-9CC4-6A928104BFB6}" type="sibTrans" cxnId="{64B23B76-DF15-4F75-B60A-7D8363086F72}">
      <dgm:prSet/>
      <dgm:spPr/>
    </dgm:pt>
    <dgm:pt modelId="{AD3F766A-BEDA-4713-8CC3-9F928CFBF1B9}">
      <dgm:prSet phldrT="[Text]" phldr="0"/>
      <dgm:spPr/>
      <dgm:t>
        <a:bodyPr/>
        <a:lstStyle/>
        <a:p>
          <a:pPr algn="ctr" rtl="0"/>
          <a:r>
            <a:rPr lang="en-US" b="1">
              <a:latin typeface="Calibri"/>
            </a:rPr>
            <a:t>Key Benefits</a:t>
          </a:r>
        </a:p>
      </dgm:t>
    </dgm:pt>
    <dgm:pt modelId="{6A7BA2DD-1523-4111-AF63-8F60306A7C6E}" type="parTrans" cxnId="{8444ACA6-B0D9-43E0-B919-E8BBC55AF497}">
      <dgm:prSet/>
      <dgm:spPr/>
    </dgm:pt>
    <dgm:pt modelId="{15B826F8-9D77-4515-ADE3-6B97D8A6F29F}" type="sibTrans" cxnId="{8444ACA6-B0D9-43E0-B919-E8BBC55AF497}">
      <dgm:prSet/>
      <dgm:spPr/>
    </dgm:pt>
    <dgm:pt modelId="{9F4B145A-EC01-4146-A5CC-ABB098545F77}">
      <dgm:prSet phldrT="[Text]" phldr="0"/>
      <dgm:spPr/>
      <dgm:t>
        <a:bodyPr/>
        <a:lstStyle/>
        <a:p>
          <a:pPr rtl="0"/>
          <a:r>
            <a:rPr lang="en-US" b="1">
              <a:latin typeface="Calibri"/>
            </a:rPr>
            <a:t>Road &amp; Infrastructure Authorities:</a:t>
          </a:r>
          <a:r>
            <a:rPr lang="en-US" b="0">
              <a:latin typeface="Calibri"/>
            </a:rPr>
            <a:t> Early identification of vulnerable roads and locations</a:t>
          </a:r>
          <a:endParaRPr lang="en-US"/>
        </a:p>
      </dgm:t>
    </dgm:pt>
    <dgm:pt modelId="{7F2D6AD5-83B1-4621-879E-2E47726DE6FF}" type="parTrans" cxnId="{F2F11ACE-7B87-4E60-B1FD-DFFCDC9E8D5A}">
      <dgm:prSet/>
      <dgm:spPr/>
    </dgm:pt>
    <dgm:pt modelId="{630FD56A-32C1-447D-855E-915E4C7393CF}" type="sibTrans" cxnId="{F2F11ACE-7B87-4E60-B1FD-DFFCDC9E8D5A}">
      <dgm:prSet/>
      <dgm:spPr/>
    </dgm:pt>
    <dgm:pt modelId="{0D29E4DD-19E9-4884-90F0-8FC8AA95B71F}">
      <dgm:prSet phldrT="[Text]" phldr="0"/>
      <dgm:spPr/>
      <dgm:t>
        <a:bodyPr/>
        <a:lstStyle/>
        <a:p>
          <a:pPr rtl="0"/>
          <a:r>
            <a:rPr lang="en-US" sz="1800" b="1">
              <a:latin typeface="Calibri"/>
            </a:rPr>
            <a:t>Economic</a:t>
          </a:r>
          <a:r>
            <a:rPr lang="en-US" b="1">
              <a:latin typeface="Calibri"/>
            </a:rPr>
            <a:t>:</a:t>
          </a:r>
          <a:r>
            <a:rPr lang="en-US">
              <a:latin typeface="Calibri"/>
            </a:rPr>
            <a:t> Helps minimize damage to roads,buildings and other </a:t>
          </a:r>
          <a:r>
            <a:rPr lang="en-US" b="0">
              <a:latin typeface="Calibri"/>
            </a:rPr>
            <a:t>infrastructure</a:t>
          </a:r>
        </a:p>
      </dgm:t>
    </dgm:pt>
    <dgm:pt modelId="{99D2E1D2-D5F0-45E6-A1BD-5D435AB6A37E}" type="parTrans" cxnId="{08BEDC9D-5C98-4D5D-B213-6A6FB033AC03}">
      <dgm:prSet/>
      <dgm:spPr/>
    </dgm:pt>
    <dgm:pt modelId="{B7FD8CE1-0A81-4422-90F1-6C3419CFC418}" type="sibTrans" cxnId="{08BEDC9D-5C98-4D5D-B213-6A6FB033AC03}">
      <dgm:prSet/>
      <dgm:spPr/>
    </dgm:pt>
    <dgm:pt modelId="{77CD3FE8-2BEC-4CEE-96F5-64E0895423A8}">
      <dgm:prSet phldrT="[Text]" phldr="0"/>
      <dgm:spPr/>
      <dgm:t>
        <a:bodyPr/>
        <a:lstStyle/>
        <a:p>
          <a:pPr rtl="0"/>
          <a:r>
            <a:rPr lang="en-US" b="1">
              <a:latin typeface="Calibri"/>
            </a:rPr>
            <a:t>Environmental:</a:t>
          </a:r>
          <a:r>
            <a:rPr lang="en-US">
              <a:latin typeface="Calibri"/>
            </a:rPr>
            <a:t> Continuous monitoring of vulnerable slopes and terrain </a:t>
          </a:r>
          <a:endParaRPr lang="en-US" sz="1800" b="0">
            <a:latin typeface="Calibri"/>
          </a:endParaRPr>
        </a:p>
      </dgm:t>
    </dgm:pt>
    <dgm:pt modelId="{713E9FE5-F3F6-4197-9D8F-AC4BD0BBC7D5}" type="parTrans" cxnId="{3B77D6EB-6690-4007-97FF-456343670060}">
      <dgm:prSet/>
      <dgm:spPr/>
    </dgm:pt>
    <dgm:pt modelId="{E5A294D8-FE43-4BB5-A770-8A40D6BEA26C}" type="sibTrans" cxnId="{3B77D6EB-6690-4007-97FF-456343670060}">
      <dgm:prSet/>
      <dgm:spPr/>
    </dgm:pt>
    <dgm:pt modelId="{EA86E216-BC64-438E-8EEB-B8A46B66E752}">
      <dgm:prSet phldrT="[Text]" phldr="0"/>
      <dgm:spPr/>
      <dgm:t>
        <a:bodyPr/>
        <a:lstStyle/>
        <a:p>
          <a:pPr rtl="0"/>
          <a:r>
            <a:rPr lang="en-US" sz="1800" b="1">
              <a:latin typeface="Calibri"/>
            </a:rPr>
            <a:t>Operational:</a:t>
          </a:r>
          <a:r>
            <a:rPr lang="en-US" sz="1800">
              <a:latin typeface="Calibri"/>
            </a:rPr>
            <a:t> Combines AI, GIS, weather, sensor and field data in one platform </a:t>
          </a:r>
          <a:endParaRPr lang="en-US" sz="1800" b="0">
            <a:latin typeface="Calibri"/>
          </a:endParaRPr>
        </a:p>
      </dgm:t>
    </dgm:pt>
    <dgm:pt modelId="{B27B6C2D-2507-4B57-B30D-D326651C1DEC}" type="parTrans" cxnId="{C307F0B9-C210-482C-8EBE-6726432148EB}">
      <dgm:prSet/>
      <dgm:spPr/>
    </dgm:pt>
    <dgm:pt modelId="{217857B7-88BF-42F9-BAE3-6B38C99E814A}" type="sibTrans" cxnId="{C307F0B9-C210-482C-8EBE-6726432148EB}">
      <dgm:prSet/>
      <dgm:spPr/>
    </dgm:pt>
    <dgm:pt modelId="{1E96D23B-CC5A-4371-881A-DBEED512B5B5}">
      <dgm:prSet phldrT="[Text]" phldr="0"/>
      <dgm:spPr/>
      <dgm:t>
        <a:bodyPr/>
        <a:lstStyle/>
        <a:p>
          <a:pPr rtl="0"/>
          <a:r>
            <a:rPr lang="en-US" sz="1800" b="1">
              <a:latin typeface="Calibri"/>
            </a:rPr>
            <a:t>Accessibility:</a:t>
          </a:r>
          <a:r>
            <a:rPr lang="en-US" sz="1800">
              <a:latin typeface="Calibri"/>
            </a:rPr>
            <a:t>Offline/low-network support for remote areas</a:t>
          </a:r>
          <a:endParaRPr lang="en-US"/>
        </a:p>
      </dgm:t>
    </dgm:pt>
    <dgm:pt modelId="{018DBBBE-4775-4692-A00E-68E62AFBB28E}" type="parTrans" cxnId="{3EEF5BB6-DDEC-4272-9FF4-6BFF1ACCCF3C}">
      <dgm:prSet/>
      <dgm:spPr/>
    </dgm:pt>
    <dgm:pt modelId="{30E38E64-27EA-41A5-9F7D-5BCD3963FDC4}" type="sibTrans" cxnId="{3EEF5BB6-DDEC-4272-9FF4-6BFF1ACCCF3C}">
      <dgm:prSet/>
      <dgm:spPr/>
    </dgm:pt>
    <dgm:pt modelId="{EF74199C-3BB4-471D-889F-FB3D79DC7D59}" type="pres">
      <dgm:prSet presAssocID="{36E3F0F0-98B8-4817-935F-162528D9ABE0}" presName="Name0" presStyleCnt="0">
        <dgm:presLayoutVars>
          <dgm:dir/>
          <dgm:animLvl val="lvl"/>
          <dgm:resizeHandles val="exact"/>
        </dgm:presLayoutVars>
      </dgm:prSet>
      <dgm:spPr/>
    </dgm:pt>
    <dgm:pt modelId="{0D9A8CB3-5685-401B-8484-FEB0A029B1DF}" type="pres">
      <dgm:prSet presAssocID="{BAC60FD2-C798-4A65-850D-CA54F572DD1F}" presName="composite" presStyleCnt="0"/>
      <dgm:spPr/>
    </dgm:pt>
    <dgm:pt modelId="{9E96CC5A-7781-480C-979C-23654D325B54}" type="pres">
      <dgm:prSet presAssocID="{BAC60FD2-C798-4A65-850D-CA54F572DD1F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A84FB80E-F730-422F-B634-5410656B46B4}" type="pres">
      <dgm:prSet presAssocID="{BAC60FD2-C798-4A65-850D-CA54F572DD1F}" presName="desTx" presStyleLbl="alignAccFollowNode1" presStyleIdx="0" presStyleCnt="2">
        <dgm:presLayoutVars>
          <dgm:bulletEnabled val="1"/>
        </dgm:presLayoutVars>
      </dgm:prSet>
      <dgm:spPr/>
    </dgm:pt>
    <dgm:pt modelId="{3574A9DE-8D0D-4F22-9CCD-1F111C81F313}" type="pres">
      <dgm:prSet presAssocID="{BB96952F-99C0-427C-B1F6-6CA119C8344A}" presName="space" presStyleCnt="0"/>
      <dgm:spPr/>
    </dgm:pt>
    <dgm:pt modelId="{A0471E6F-C2DF-4AF9-B77B-D32D50E14EBE}" type="pres">
      <dgm:prSet presAssocID="{AD3F766A-BEDA-4713-8CC3-9F928CFBF1B9}" presName="composite" presStyleCnt="0"/>
      <dgm:spPr/>
    </dgm:pt>
    <dgm:pt modelId="{8B8AFF6B-74F0-4F9B-8352-1E22037CB211}" type="pres">
      <dgm:prSet presAssocID="{AD3F766A-BEDA-4713-8CC3-9F928CFBF1B9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601C4AFD-5101-4748-8E22-12891103466C}" type="pres">
      <dgm:prSet presAssocID="{AD3F766A-BEDA-4713-8CC3-9F928CFBF1B9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021A9202-E99D-4192-B8B6-8C66B3C207A6}" type="presOf" srcId="{175E05F7-039E-4100-8E73-7D943B8003FC}" destId="{A84FB80E-F730-422F-B634-5410656B46B4}" srcOrd="0" destOrd="1" presId="urn:microsoft.com/office/officeart/2005/8/layout/hList1"/>
    <dgm:cxn modelId="{AAF9AB10-0405-4073-90B2-29AC3E382FDA}" srcId="{AD3F766A-BEDA-4713-8CC3-9F928CFBF1B9}" destId="{04BA74DA-C893-4B82-AC6D-792F51872AF9}" srcOrd="0" destOrd="0" parTransId="{E733A211-0B3C-41B3-8594-108A65D5DB8D}" sibTransId="{0596240D-4B0A-4A39-A039-FACE7E6CE8C6}"/>
    <dgm:cxn modelId="{E4EF641E-48EE-409F-8C1B-C5D8504EF36B}" type="presOf" srcId="{BAC60FD2-C798-4A65-850D-CA54F572DD1F}" destId="{9E96CC5A-7781-480C-979C-23654D325B54}" srcOrd="0" destOrd="0" presId="urn:microsoft.com/office/officeart/2005/8/layout/hList1"/>
    <dgm:cxn modelId="{CF366D26-A038-4EDE-BCC5-7BABED9D7A29}" type="presOf" srcId="{B551AF3A-DF85-4A4C-AD15-19D4031670C3}" destId="{A84FB80E-F730-422F-B634-5410656B46B4}" srcOrd="0" destOrd="2" presId="urn:microsoft.com/office/officeart/2005/8/layout/hList1"/>
    <dgm:cxn modelId="{8C38523E-1D31-4E24-9C70-8C50D619DF73}" type="presOf" srcId="{77CD3FE8-2BEC-4CEE-96F5-64E0895423A8}" destId="{601C4AFD-5101-4748-8E22-12891103466C}" srcOrd="0" destOrd="2" presId="urn:microsoft.com/office/officeart/2005/8/layout/hList1"/>
    <dgm:cxn modelId="{85A77F60-8BF6-4E1D-A972-B966391FBCC4}" type="presOf" srcId="{04BA74DA-C893-4B82-AC6D-792F51872AF9}" destId="{601C4AFD-5101-4748-8E22-12891103466C}" srcOrd="0" destOrd="0" presId="urn:microsoft.com/office/officeart/2005/8/layout/hList1"/>
    <dgm:cxn modelId="{2F505C45-527B-4D25-A0B9-C2635B28C397}" type="presOf" srcId="{01328B64-72D6-450B-8270-5112CC9DB8E5}" destId="{A84FB80E-F730-422F-B634-5410656B46B4}" srcOrd="0" destOrd="0" presId="urn:microsoft.com/office/officeart/2005/8/layout/hList1"/>
    <dgm:cxn modelId="{64B23B76-DF15-4F75-B60A-7D8363086F72}" srcId="{BAC60FD2-C798-4A65-850D-CA54F572DD1F}" destId="{B551AF3A-DF85-4A4C-AD15-19D4031670C3}" srcOrd="2" destOrd="0" parTransId="{37C6D552-CF9D-4909-BADD-06DD9FB3E320}" sibTransId="{1FED0AB3-7F34-4368-9CC4-6A928104BFB6}"/>
    <dgm:cxn modelId="{EF9CF976-4E88-4B2C-9AC1-B16C52B0FFCB}" srcId="{BAC60FD2-C798-4A65-850D-CA54F572DD1F}" destId="{175E05F7-039E-4100-8E73-7D943B8003FC}" srcOrd="1" destOrd="0" parTransId="{18D1F450-8582-4D12-98CF-097564E16D6A}" sibTransId="{CBC536AD-1FFC-4B1F-9638-14D4E9F990CB}"/>
    <dgm:cxn modelId="{79D68999-FFFB-4EC1-A292-FB86F9BA1506}" type="presOf" srcId="{36E3F0F0-98B8-4817-935F-162528D9ABE0}" destId="{EF74199C-3BB4-471D-889F-FB3D79DC7D59}" srcOrd="0" destOrd="0" presId="urn:microsoft.com/office/officeart/2005/8/layout/hList1"/>
    <dgm:cxn modelId="{08BEDC9D-5C98-4D5D-B213-6A6FB033AC03}" srcId="{AD3F766A-BEDA-4713-8CC3-9F928CFBF1B9}" destId="{0D29E4DD-19E9-4884-90F0-8FC8AA95B71F}" srcOrd="1" destOrd="0" parTransId="{99D2E1D2-D5F0-45E6-A1BD-5D435AB6A37E}" sibTransId="{B7FD8CE1-0A81-4422-90F1-6C3419CFC418}"/>
    <dgm:cxn modelId="{8444ACA6-B0D9-43E0-B919-E8BBC55AF497}" srcId="{36E3F0F0-98B8-4817-935F-162528D9ABE0}" destId="{AD3F766A-BEDA-4713-8CC3-9F928CFBF1B9}" srcOrd="1" destOrd="0" parTransId="{6A7BA2DD-1523-4111-AF63-8F60306A7C6E}" sibTransId="{15B826F8-9D77-4515-ADE3-6B97D8A6F29F}"/>
    <dgm:cxn modelId="{844CA5A9-BFA1-4706-AAC2-8F93C50A0145}" type="presOf" srcId="{0D29E4DD-19E9-4884-90F0-8FC8AA95B71F}" destId="{601C4AFD-5101-4748-8E22-12891103466C}" srcOrd="0" destOrd="1" presId="urn:microsoft.com/office/officeart/2005/8/layout/hList1"/>
    <dgm:cxn modelId="{ACF8F4AE-48F2-4FC0-9D9F-03085093B180}" type="presOf" srcId="{AD3F766A-BEDA-4713-8CC3-9F928CFBF1B9}" destId="{8B8AFF6B-74F0-4F9B-8352-1E22037CB211}" srcOrd="0" destOrd="0" presId="urn:microsoft.com/office/officeart/2005/8/layout/hList1"/>
    <dgm:cxn modelId="{3EEF5BB6-DDEC-4272-9FF4-6BFF1ACCCF3C}" srcId="{AD3F766A-BEDA-4713-8CC3-9F928CFBF1B9}" destId="{1E96D23B-CC5A-4371-881A-DBEED512B5B5}" srcOrd="4" destOrd="0" parTransId="{018DBBBE-4775-4692-A00E-68E62AFBB28E}" sibTransId="{30E38E64-27EA-41A5-9F7D-5BCD3963FDC4}"/>
    <dgm:cxn modelId="{C307F0B9-C210-482C-8EBE-6726432148EB}" srcId="{AD3F766A-BEDA-4713-8CC3-9F928CFBF1B9}" destId="{EA86E216-BC64-438E-8EEB-B8A46B66E752}" srcOrd="3" destOrd="0" parTransId="{B27B6C2D-2507-4B57-B30D-D326651C1DEC}" sibTransId="{217857B7-88BF-42F9-BAE3-6B38C99E814A}"/>
    <dgm:cxn modelId="{9FFC7CC1-5B57-43AE-A79A-1B4ECFA6C7CA}" type="presOf" srcId="{1E96D23B-CC5A-4371-881A-DBEED512B5B5}" destId="{601C4AFD-5101-4748-8E22-12891103466C}" srcOrd="0" destOrd="4" presId="urn:microsoft.com/office/officeart/2005/8/layout/hList1"/>
    <dgm:cxn modelId="{F2F11ACE-7B87-4E60-B1FD-DFFCDC9E8D5A}" srcId="{BAC60FD2-C798-4A65-850D-CA54F572DD1F}" destId="{9F4B145A-EC01-4146-A5CC-ABB098545F77}" srcOrd="3" destOrd="0" parTransId="{7F2D6AD5-83B1-4621-879E-2E47726DE6FF}" sibTransId="{630FD56A-32C1-447D-855E-915E4C7393CF}"/>
    <dgm:cxn modelId="{0163D4EB-CEF2-4BFB-9DAB-A2E47B514F07}" srcId="{BAC60FD2-C798-4A65-850D-CA54F572DD1F}" destId="{01328B64-72D6-450B-8270-5112CC9DB8E5}" srcOrd="0" destOrd="0" parTransId="{82543F57-8270-4DC2-91DC-64932EE07828}" sibTransId="{C1C00979-7127-4472-BAC2-0035FD016664}"/>
    <dgm:cxn modelId="{3B77D6EB-6690-4007-97FF-456343670060}" srcId="{AD3F766A-BEDA-4713-8CC3-9F928CFBF1B9}" destId="{77CD3FE8-2BEC-4CEE-96F5-64E0895423A8}" srcOrd="2" destOrd="0" parTransId="{713E9FE5-F3F6-4197-9D8F-AC4BD0BBC7D5}" sibTransId="{E5A294D8-FE43-4BB5-A770-8A40D6BEA26C}"/>
    <dgm:cxn modelId="{DE72F3F7-9D95-43C9-B15C-456CA515196B}" type="presOf" srcId="{9F4B145A-EC01-4146-A5CC-ABB098545F77}" destId="{A84FB80E-F730-422F-B634-5410656B46B4}" srcOrd="0" destOrd="3" presId="urn:microsoft.com/office/officeart/2005/8/layout/hList1"/>
    <dgm:cxn modelId="{8DE04EFE-BCBA-4207-A159-6079ED804CF2}" srcId="{36E3F0F0-98B8-4817-935F-162528D9ABE0}" destId="{BAC60FD2-C798-4A65-850D-CA54F572DD1F}" srcOrd="0" destOrd="0" parTransId="{24AED518-B0A1-4E89-9E59-1C845E80BE85}" sibTransId="{BB96952F-99C0-427C-B1F6-6CA119C8344A}"/>
    <dgm:cxn modelId="{2DC778FE-3474-4BB6-8B77-26238DBEBF06}" type="presOf" srcId="{EA86E216-BC64-438E-8EEB-B8A46B66E752}" destId="{601C4AFD-5101-4748-8E22-12891103466C}" srcOrd="0" destOrd="3" presId="urn:microsoft.com/office/officeart/2005/8/layout/hList1"/>
    <dgm:cxn modelId="{E190815B-1817-4ED8-8D29-DBD3623DAC79}" type="presParOf" srcId="{EF74199C-3BB4-471D-889F-FB3D79DC7D59}" destId="{0D9A8CB3-5685-401B-8484-FEB0A029B1DF}" srcOrd="0" destOrd="0" presId="urn:microsoft.com/office/officeart/2005/8/layout/hList1"/>
    <dgm:cxn modelId="{729CF0A9-5B73-4589-AB24-BA3E29E05A49}" type="presParOf" srcId="{0D9A8CB3-5685-401B-8484-FEB0A029B1DF}" destId="{9E96CC5A-7781-480C-979C-23654D325B54}" srcOrd="0" destOrd="0" presId="urn:microsoft.com/office/officeart/2005/8/layout/hList1"/>
    <dgm:cxn modelId="{E0AD897F-04D5-4C5C-9D8B-174CAC73FC2E}" type="presParOf" srcId="{0D9A8CB3-5685-401B-8484-FEB0A029B1DF}" destId="{A84FB80E-F730-422F-B634-5410656B46B4}" srcOrd="1" destOrd="0" presId="urn:microsoft.com/office/officeart/2005/8/layout/hList1"/>
    <dgm:cxn modelId="{6E6C2868-7E7B-4432-B2AC-E06631573758}" type="presParOf" srcId="{EF74199C-3BB4-471D-889F-FB3D79DC7D59}" destId="{3574A9DE-8D0D-4F22-9CCD-1F111C81F313}" srcOrd="1" destOrd="0" presId="urn:microsoft.com/office/officeart/2005/8/layout/hList1"/>
    <dgm:cxn modelId="{F0B5C9AA-7F77-48E9-B986-FFF16380C224}" type="presParOf" srcId="{EF74199C-3BB4-471D-889F-FB3D79DC7D59}" destId="{A0471E6F-C2DF-4AF9-B77B-D32D50E14EBE}" srcOrd="2" destOrd="0" presId="urn:microsoft.com/office/officeart/2005/8/layout/hList1"/>
    <dgm:cxn modelId="{9CEF3AB2-22DB-4950-80DB-0D6508EC820E}" type="presParOf" srcId="{A0471E6F-C2DF-4AF9-B77B-D32D50E14EBE}" destId="{8B8AFF6B-74F0-4F9B-8352-1E22037CB211}" srcOrd="0" destOrd="0" presId="urn:microsoft.com/office/officeart/2005/8/layout/hList1"/>
    <dgm:cxn modelId="{48F7D9F6-A2CB-44E6-A23C-F78346D2BA26}" type="presParOf" srcId="{A0471E6F-C2DF-4AF9-B77B-D32D50E14EBE}" destId="{601C4AFD-5101-4748-8E22-12891103466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96CC5A-7781-480C-979C-23654D325B54}">
      <dsp:nvSpPr>
        <dsp:cNvPr id="0" name=""/>
        <dsp:cNvSpPr/>
      </dsp:nvSpPr>
      <dsp:spPr>
        <a:xfrm>
          <a:off x="42" y="141788"/>
          <a:ext cx="4086847" cy="57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Calibri"/>
            </a:rPr>
            <a:t>Impact on Target Audience</a:t>
          </a:r>
          <a:endParaRPr lang="en-US" sz="2000" b="0" kern="1200">
            <a:latin typeface="Calibri"/>
          </a:endParaRPr>
        </a:p>
      </dsp:txBody>
      <dsp:txXfrm>
        <a:off x="42" y="141788"/>
        <a:ext cx="4086847" cy="576000"/>
      </dsp:txXfrm>
    </dsp:sp>
    <dsp:sp modelId="{A84FB80E-F730-422F-B634-5410656B46B4}">
      <dsp:nvSpPr>
        <dsp:cNvPr id="0" name=""/>
        <dsp:cNvSpPr/>
      </dsp:nvSpPr>
      <dsp:spPr>
        <a:xfrm>
          <a:off x="42" y="717788"/>
          <a:ext cx="4086847" cy="408318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>
              <a:latin typeface="Calibri"/>
            </a:rPr>
            <a:t>Higher Authorities:</a:t>
          </a:r>
          <a:r>
            <a:rPr lang="en-US" sz="2000" b="0" kern="1200">
              <a:latin typeface="Calibri"/>
            </a:rPr>
            <a:t> Faster identification of high-risk areas for timely action 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>
              <a:latin typeface="Calibri"/>
            </a:rPr>
            <a:t>Field &amp; Rescue Teams:</a:t>
          </a:r>
          <a:r>
            <a:rPr lang="en-US" sz="2000" b="0" kern="1200">
              <a:latin typeface="Calibri"/>
            </a:rPr>
            <a:t> Better prioritization of inspections and emergency response 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>
              <a:latin typeface="Calibri"/>
            </a:rPr>
            <a:t>Local Communities:</a:t>
          </a:r>
          <a:r>
            <a:rPr lang="en-US" sz="2000" b="0" kern="1200">
              <a:latin typeface="Calibri"/>
            </a:rPr>
            <a:t> Early warnings with more time to take precautions 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>
              <a:latin typeface="Calibri"/>
            </a:rPr>
            <a:t>Road &amp; Infrastructure Authorities:</a:t>
          </a:r>
          <a:r>
            <a:rPr lang="en-US" sz="2000" b="0" kern="1200">
              <a:latin typeface="Calibri"/>
            </a:rPr>
            <a:t> Early identification of vulnerable roads and locations</a:t>
          </a:r>
          <a:endParaRPr lang="en-US" sz="2000" kern="1200"/>
        </a:p>
      </dsp:txBody>
      <dsp:txXfrm>
        <a:off x="42" y="717788"/>
        <a:ext cx="4086847" cy="4083187"/>
      </dsp:txXfrm>
    </dsp:sp>
    <dsp:sp modelId="{8B8AFF6B-74F0-4F9B-8352-1E22037CB211}">
      <dsp:nvSpPr>
        <dsp:cNvPr id="0" name=""/>
        <dsp:cNvSpPr/>
      </dsp:nvSpPr>
      <dsp:spPr>
        <a:xfrm>
          <a:off x="4659049" y="141788"/>
          <a:ext cx="4086847" cy="57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Calibri"/>
            </a:rPr>
            <a:t>Key Benefits</a:t>
          </a:r>
        </a:p>
      </dsp:txBody>
      <dsp:txXfrm>
        <a:off x="4659049" y="141788"/>
        <a:ext cx="4086847" cy="576000"/>
      </dsp:txXfrm>
    </dsp:sp>
    <dsp:sp modelId="{601C4AFD-5101-4748-8E22-12891103466C}">
      <dsp:nvSpPr>
        <dsp:cNvPr id="0" name=""/>
        <dsp:cNvSpPr/>
      </dsp:nvSpPr>
      <dsp:spPr>
        <a:xfrm>
          <a:off x="4659049" y="717788"/>
          <a:ext cx="4086847" cy="408318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>
              <a:latin typeface="Calibri"/>
            </a:rPr>
            <a:t>Social </a:t>
          </a:r>
          <a:r>
            <a:rPr lang="en-US" sz="2000" kern="1200">
              <a:latin typeface="Calibri"/>
            </a:rPr>
            <a:t>: Helps reduce Risk to life and improve community </a:t>
          </a:r>
          <a:r>
            <a:rPr lang="en-US" sz="2000" b="0" kern="1200">
              <a:latin typeface="Calibri"/>
            </a:rPr>
            <a:t>saftey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>
              <a:latin typeface="Calibri"/>
            </a:rPr>
            <a:t>Economic:</a:t>
          </a:r>
          <a:r>
            <a:rPr lang="en-US" sz="2000" kern="1200">
              <a:latin typeface="Calibri"/>
            </a:rPr>
            <a:t> Helps minimize damage to roads,buildings and other </a:t>
          </a:r>
          <a:r>
            <a:rPr lang="en-US" sz="2000" b="0" kern="1200">
              <a:latin typeface="Calibri"/>
            </a:rPr>
            <a:t>infrastructure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>
              <a:latin typeface="Calibri"/>
            </a:rPr>
            <a:t>Environmental:</a:t>
          </a:r>
          <a:r>
            <a:rPr lang="en-US" sz="2000" kern="1200">
              <a:latin typeface="Calibri"/>
            </a:rPr>
            <a:t> Continuous monitoring of vulnerable slopes and terrain </a:t>
          </a:r>
          <a:endParaRPr lang="en-US" sz="2000" b="0" kern="1200">
            <a:latin typeface="Calibri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>
              <a:latin typeface="Calibri"/>
            </a:rPr>
            <a:t>Operational:</a:t>
          </a:r>
          <a:r>
            <a:rPr lang="en-US" sz="2000" kern="1200">
              <a:latin typeface="Calibri"/>
            </a:rPr>
            <a:t> Combines AI, GIS, weather, sensor and field data in one platform </a:t>
          </a:r>
          <a:endParaRPr lang="en-US" sz="2000" b="0" kern="1200">
            <a:latin typeface="Calibri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>
              <a:latin typeface="Calibri"/>
            </a:rPr>
            <a:t>Accessibility:</a:t>
          </a:r>
          <a:r>
            <a:rPr lang="en-US" sz="2000" kern="1200">
              <a:latin typeface="Calibri"/>
            </a:rPr>
            <a:t>Offline/low-network support for remote areas</a:t>
          </a:r>
          <a:endParaRPr lang="en-US" sz="2000" kern="1200"/>
        </a:p>
      </dsp:txBody>
      <dsp:txXfrm>
        <a:off x="4659049" y="717788"/>
        <a:ext cx="4086847" cy="40831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ro.gov.in/SpaceApplications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github.com/nasa/LHASA/tree/maste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89580" y="144393"/>
            <a:ext cx="8534400" cy="118365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6725" y="1384913"/>
            <a:ext cx="11258550" cy="5148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Problem Statement ID –SIH26001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Problem Statement Title-</a:t>
            </a:r>
            <a:r>
              <a:rPr lang="en-US" sz="2800" dirty="0">
                <a:latin typeface="Calibri"/>
                <a:ea typeface="Calibri"/>
                <a:cs typeface="Calibri"/>
              </a:rPr>
              <a:t>AI-Based Early Warning and Landslide Risk Monitoring System in NER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Theme-</a:t>
            </a:r>
            <a:r>
              <a:rPr lang="en-US" sz="2800" dirty="0">
                <a:latin typeface="Calibri"/>
                <a:ea typeface="Calibri"/>
                <a:cs typeface="Calibri"/>
              </a:rPr>
              <a:t>Disaster Management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PS Category- Software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Team ID- 21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Team Name- </a:t>
            </a:r>
            <a:r>
              <a:rPr lang="en-US" dirty="0">
                <a:latin typeface="Arial"/>
                <a:ea typeface="ＭＳ Ｐゴシック"/>
                <a:cs typeface="Arial"/>
              </a:rPr>
              <a:t>Problem Compilers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b="1" dirty="0">
              <a:latin typeface="Arial"/>
              <a:ea typeface="ＭＳ Ｐゴシック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093217" y="-73070"/>
            <a:ext cx="7016664" cy="1466591"/>
          </a:xfrm>
        </p:spPr>
        <p:txBody>
          <a:bodyPr/>
          <a:lstStyle/>
          <a:p>
            <a:pPr eaLnBrk="1" hangingPunct="1"/>
            <a:b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200" b="1" u="sng">
                <a:solidFill>
                  <a:schemeClr val="tx2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AI-Powered Predictive Landslide Intelligence Platform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13149" y="1543002"/>
            <a:ext cx="11711837" cy="4585871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chemeClr val="tx2"/>
                </a:solidFill>
                <a:latin typeface="Arial"/>
                <a:ea typeface="ＭＳ Ｐゴシック"/>
                <a:cs typeface="Arial"/>
              </a:rPr>
              <a:t>Proposed Solution</a:t>
            </a:r>
            <a:endParaRPr lang="en-US" sz="2800" u="sng" dirty="0">
              <a:solidFill>
                <a:schemeClr val="tx2"/>
              </a:solidFill>
              <a:latin typeface="Arial"/>
              <a:ea typeface="ＭＳ Ｐゴシック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latin typeface="Arial"/>
              <a:ea typeface="ＭＳ Ｐゴシック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/>
              <a:ea typeface="ＭＳ Ｐゴシック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/>
              <a:ea typeface="ＭＳ Ｐゴシック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/>
              <a:ea typeface="ＭＳ Ｐゴシック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/>
              <a:ea typeface="ＭＳ Ｐゴシック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/>
              <a:ea typeface="ＭＳ Ｐゴシック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/>
              <a:ea typeface="ＭＳ Ｐゴシック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/>
              <a:ea typeface="ＭＳ Ｐゴシック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/>
              <a:ea typeface="ＭＳ Ｐゴシック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/>
              <a:ea typeface="ＭＳ Ｐゴシック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9B8F6596-8F37-3735-D06A-E4EAAB07F05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4629" y="229655"/>
            <a:ext cx="1934244" cy="83008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Arial"/>
                <a:ea typeface="Calibri"/>
                <a:cs typeface="Arial"/>
              </a:rPr>
              <a:t>Problem Compilers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9B5FBC-ECCA-57B0-5D0E-366F48937206}"/>
              </a:ext>
            </a:extLst>
          </p:cNvPr>
          <p:cNvSpPr txBox="1"/>
          <p:nvPr/>
        </p:nvSpPr>
        <p:spPr>
          <a:xfrm>
            <a:off x="724206" y="2068788"/>
            <a:ext cx="5374499" cy="17697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Calibri"/>
                <a:ea typeface="ＭＳ Ｐゴシック"/>
                <a:cs typeface="Calibri"/>
              </a:rPr>
              <a:t>WHAT IS OUR SOLUTION?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Calibri"/>
                <a:ea typeface="Calibri"/>
                <a:cs typeface="Calibri"/>
              </a:rPr>
              <a:t>AI-Powered Landslide Intelligence Platform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Calibri"/>
                <a:ea typeface="Calibri"/>
                <a:cs typeface="Calibri"/>
              </a:rPr>
              <a:t>An AI-powered platform integrating environmental, terrain, satellite, and field data to predict landslide risk and enable preventive action.</a:t>
            </a:r>
          </a:p>
          <a:p>
            <a:pPr algn="l"/>
            <a:endParaRPr lang="en-US" sz="1900" dirty="0"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C1C854-8C3E-ACED-7544-7B7D4E52AC77}"/>
              </a:ext>
            </a:extLst>
          </p:cNvPr>
          <p:cNvSpPr txBox="1"/>
          <p:nvPr/>
        </p:nvSpPr>
        <p:spPr>
          <a:xfrm>
            <a:off x="6252095" y="2071020"/>
            <a:ext cx="5638532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Calibri"/>
                <a:ea typeface="ＭＳ Ｐゴシック"/>
                <a:cs typeface="Calibri"/>
              </a:rPr>
              <a:t>HOW DOES IT WORK?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Calibri"/>
                <a:ea typeface="ＭＳ Ｐゴシック"/>
                <a:cs typeface="Calibri"/>
              </a:rPr>
              <a:t>Collect → Analyze → Predict → Assess Impact → Alert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Calibri"/>
                <a:ea typeface="ＭＳ Ｐゴシック"/>
                <a:cs typeface="Calibri"/>
              </a:rPr>
              <a:t>A unified workflow that converts multi-source data into actionable early warnings.</a:t>
            </a:r>
          </a:p>
          <a:p>
            <a:pPr algn="l"/>
            <a:endParaRPr lang="en-US" dirty="0"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F6E78F-905C-6DC9-3980-6C47604A29E2}"/>
              </a:ext>
            </a:extLst>
          </p:cNvPr>
          <p:cNvSpPr txBox="1"/>
          <p:nvPr/>
        </p:nvSpPr>
        <p:spPr>
          <a:xfrm>
            <a:off x="6253457" y="3962259"/>
            <a:ext cx="5621301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HOW DOES IT ADDRESS THE PROBLEM?</a:t>
            </a:r>
            <a:endParaRPr lang="en-US" b="1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Early Risk Identification &amp; Prevention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Identifies high-risk zones early, enabling authorities and communities to take timely preventive action.</a:t>
            </a:r>
            <a:endParaRPr lang="en-US" dirty="0">
              <a:ea typeface="Calibri"/>
              <a:cs typeface="Calibri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987304-4F28-E308-4BE7-303D76D53A49}"/>
              </a:ext>
            </a:extLst>
          </p:cNvPr>
          <p:cNvSpPr txBox="1"/>
          <p:nvPr/>
        </p:nvSpPr>
        <p:spPr>
          <a:xfrm>
            <a:off x="725569" y="3963743"/>
            <a:ext cx="5368674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WHAT MAKES IT UNIQUE?</a:t>
            </a:r>
            <a:endParaRPr lang="en-US" b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Beyond Prediction → Impact-Based Decision Support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Combines landslide risk prediction with potential impact assessment to support proactive decision-making.</a:t>
            </a:r>
            <a:endParaRPr lang="en-US" dirty="0">
              <a:ea typeface="Calibri"/>
              <a:cs typeface="Calibri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CBD6E0-DBD5-5290-BAFC-DE1025160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962" y="681023"/>
            <a:ext cx="6812566" cy="588034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84158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50425" y="1090168"/>
            <a:ext cx="5726166" cy="3262432"/>
          </a:xfrm>
          <a:prstGeom prst="rect">
            <a:avLst/>
          </a:prstGeom>
          <a:solidFill>
            <a:schemeClr val="bg2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 marL="514350" indent="-514350" algn="just">
              <a:buFont typeface="Arial"/>
              <a:buChar char="•"/>
            </a:pPr>
            <a:r>
              <a:rPr lang="en-US" sz="2800" b="1" dirty="0">
                <a:latin typeface="Calibri"/>
                <a:ea typeface="Calibri"/>
                <a:cs typeface="Calibri"/>
              </a:rPr>
              <a:t>Technologies Used</a:t>
            </a:r>
            <a:endParaRPr lang="en-US" sz="2800" b="1" dirty="0"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FRONTEND : React.js</a:t>
            </a:r>
            <a:endParaRPr lang="en-US" sz="2000" dirty="0"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BACKEND: 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FastAPI</a:t>
            </a:r>
            <a:endParaRPr lang="en-US" sz="2000" dirty="0"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AI / ML: Python ,Scikit-learn</a:t>
            </a:r>
            <a:endParaRPr lang="en-US" sz="2000" dirty="0"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DATA PROCESSING : Pandas ,NumPy</a:t>
            </a:r>
            <a:endParaRPr lang="en-US" sz="2000" dirty="0"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DATABASE :  PostgreSQL</a:t>
            </a:r>
            <a:endParaRPr lang="en-US" sz="2000" dirty="0"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GIS &amp; MAPPING: GIS -&gt;Leaflet /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Mapbox</a:t>
            </a:r>
            <a:endParaRPr lang="en-US" sz="2000" dirty="0"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DATA SOURCES : Satellite Data ,Weather APIs</a:t>
            </a:r>
            <a:endParaRPr lang="en-US" sz="2000" dirty="0"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DEPLOYMENT : Docker ,Cloud</a:t>
            </a:r>
            <a:endParaRPr lang="en-US" sz="2000" dirty="0">
              <a:ea typeface="Calibri"/>
              <a:cs typeface="Calibri"/>
            </a:endParaRPr>
          </a:p>
          <a:p>
            <a:pPr algn="just"/>
            <a:endParaRPr lang="en-US" dirty="0">
              <a:latin typeface="Calibri"/>
              <a:ea typeface="ＭＳ Ｐゴシック"/>
              <a:cs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52519" y="104395"/>
            <a:ext cx="1934244" cy="83008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Arial"/>
                <a:ea typeface="Calibri"/>
                <a:cs typeface="Arial"/>
              </a:rPr>
              <a:t>Problem Compilers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-41632"/>
            <a:ext cx="2249850" cy="9760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C6A2CD-E440-15D1-CA38-DF1906DA841A}"/>
              </a:ext>
            </a:extLst>
          </p:cNvPr>
          <p:cNvSpPr txBox="1"/>
          <p:nvPr/>
        </p:nvSpPr>
        <p:spPr>
          <a:xfrm>
            <a:off x="347509" y="4506729"/>
            <a:ext cx="5721332" cy="126188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800" b="1">
                <a:latin typeface="Calibri"/>
                <a:ea typeface="Calibri"/>
                <a:cs typeface="Calibri"/>
              </a:rPr>
              <a:t>2. Methodology / Implementation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algn="just"/>
            <a:r>
              <a:rPr lang="en-US" sz="1600" b="1">
                <a:latin typeface="Calibri"/>
                <a:ea typeface="Calibri"/>
                <a:cs typeface="Calibri"/>
              </a:rPr>
              <a:t>Data Collection → Preprocessing → Feature Engineering → AI </a:t>
            </a:r>
            <a:r>
              <a:rPr lang="en-US" sz="1600" b="1" err="1">
                <a:latin typeface="Calibri"/>
                <a:ea typeface="Calibri"/>
                <a:cs typeface="Calibri"/>
              </a:rPr>
              <a:t>RiskPrediction</a:t>
            </a:r>
            <a:r>
              <a:rPr lang="en-US" sz="1600" b="1">
                <a:latin typeface="Calibri"/>
                <a:ea typeface="Calibri"/>
                <a:cs typeface="Calibri"/>
              </a:rPr>
              <a:t> → Multi-level Risk Classification → Early Warning →Dashboard &amp; GIS Visualization → Continuous Monitoring</a:t>
            </a:r>
            <a:endParaRPr lang="en-US" sz="16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F17A7EC4-7FB3-F656-3C26-843920448E4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3304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Arial"/>
                <a:ea typeface="Calibri"/>
                <a:cs typeface="Arial"/>
              </a:rPr>
              <a:t>Problem Compilers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3DDD63-CD9D-8144-26FF-1F7961B19343}"/>
              </a:ext>
            </a:extLst>
          </p:cNvPr>
          <p:cNvSpPr txBox="1"/>
          <p:nvPr/>
        </p:nvSpPr>
        <p:spPr>
          <a:xfrm>
            <a:off x="329773" y="1556117"/>
            <a:ext cx="5638800" cy="35702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Calibri"/>
                <a:ea typeface="ＭＳ Ｐゴシック"/>
                <a:cs typeface="Calibri"/>
              </a:rPr>
              <a:t>FEASIBILITY</a:t>
            </a:r>
            <a:endParaRPr lang="en-US" sz="2800" b="1" i="1" dirty="0">
              <a:latin typeface="Calibri"/>
              <a:ea typeface="ＭＳ Ｐゴシック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latin typeface="Calibri"/>
                <a:ea typeface="ＭＳ Ｐゴシック"/>
                <a:cs typeface="Calibri"/>
              </a:rPr>
              <a:t>AI/ML:</a:t>
            </a:r>
            <a:r>
              <a:rPr lang="en-US" dirty="0">
                <a:latin typeface="Calibri"/>
                <a:ea typeface="ＭＳ Ｐゴシック"/>
                <a:cs typeface="Calibri"/>
              </a:rPr>
              <a:t> Predict landslide risk using rainfall, soil moisture, slope, terrain &amp; historical data. </a:t>
            </a:r>
            <a:endParaRPr lang="en-US" dirty="0">
              <a:cs typeface="Calibri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latin typeface="Calibri"/>
                <a:ea typeface="ＭＳ Ｐゴシック"/>
                <a:cs typeface="Calibri"/>
              </a:rPr>
              <a:t>Real-Time Integration:</a:t>
            </a:r>
            <a:r>
              <a:rPr lang="en-US" dirty="0">
                <a:latin typeface="Calibri"/>
                <a:ea typeface="ＭＳ Ｐゴシック"/>
                <a:cs typeface="Calibri"/>
              </a:rPr>
              <a:t> Connect </a:t>
            </a:r>
            <a:r>
              <a:rPr lang="en-US" b="1" dirty="0">
                <a:latin typeface="Calibri"/>
                <a:ea typeface="ＭＳ Ｐゴシック"/>
                <a:cs typeface="Calibri"/>
              </a:rPr>
              <a:t>IMD weather APIs, IoT sensors, satellite &amp; GIS data</a:t>
            </a:r>
            <a:r>
              <a:rPr lang="en-US" dirty="0">
                <a:latin typeface="Calibri"/>
                <a:ea typeface="ＭＳ Ｐゴシック"/>
                <a:cs typeface="Calibri"/>
              </a:rPr>
              <a:t>. 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latin typeface="Calibri"/>
                <a:ea typeface="ＭＳ Ｐゴシック"/>
                <a:cs typeface="Calibri"/>
              </a:rPr>
              <a:t>GIS Dashboard:</a:t>
            </a:r>
            <a:r>
              <a:rPr lang="en-US" dirty="0">
                <a:latin typeface="Calibri"/>
                <a:ea typeface="ＭＳ Ｐゴシック"/>
                <a:cs typeface="Calibri"/>
              </a:rPr>
              <a:t> Display live </a:t>
            </a:r>
            <a:r>
              <a:rPr lang="en-US" b="1" dirty="0">
                <a:latin typeface="Calibri"/>
                <a:ea typeface="ＭＳ Ｐゴシック"/>
                <a:cs typeface="Calibri"/>
              </a:rPr>
              <a:t>risk zones, roads, villages and infrastructure</a:t>
            </a:r>
            <a:r>
              <a:rPr lang="en-US" dirty="0">
                <a:latin typeface="Calibri"/>
                <a:ea typeface="ＭＳ Ｐゴシック"/>
                <a:cs typeface="Calibri"/>
              </a:rPr>
              <a:t> on maps. 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latin typeface="Calibri"/>
                <a:ea typeface="ＭＳ Ｐゴシック"/>
                <a:cs typeface="Calibri"/>
              </a:rPr>
              <a:t>Mobile + Cloud:</a:t>
            </a:r>
            <a:r>
              <a:rPr lang="en-US" dirty="0">
                <a:latin typeface="Calibri"/>
                <a:ea typeface="ＭＳ Ｐゴシック"/>
                <a:cs typeface="Calibri"/>
              </a:rPr>
              <a:t> Field officials can report geo-tagged cracks, slope movement and road blockages. 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latin typeface="Calibri"/>
                <a:ea typeface="ＭＳ Ｐゴシック"/>
                <a:cs typeface="Calibri"/>
              </a:rPr>
              <a:t>Offline Support:</a:t>
            </a:r>
            <a:r>
              <a:rPr lang="en-US" dirty="0">
                <a:latin typeface="Calibri"/>
                <a:ea typeface="ＭＳ Ｐゴシック"/>
                <a:cs typeface="Calibri"/>
              </a:rPr>
              <a:t> Store reports locally and sync automatically when connectivity returns.</a:t>
            </a:r>
          </a:p>
          <a:p>
            <a:pPr marL="285750" indent="-285750" algn="ctr">
              <a:buFont typeface="Arial"/>
              <a:buChar char="•"/>
            </a:pPr>
            <a:endParaRPr lang="en-US" dirty="0">
              <a:cs typeface="Calibri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9ACA49-1012-CB97-7812-704ED75F2BEB}"/>
              </a:ext>
            </a:extLst>
          </p:cNvPr>
          <p:cNvSpPr txBox="1"/>
          <p:nvPr/>
        </p:nvSpPr>
        <p:spPr>
          <a:xfrm>
            <a:off x="6250200" y="1538665"/>
            <a:ext cx="5638800" cy="35702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Calibri"/>
                <a:ea typeface="ＭＳ Ｐゴシック"/>
                <a:cs typeface="Calibri"/>
              </a:rPr>
              <a:t>    Viability</a:t>
            </a:r>
            <a:r>
              <a:rPr lang="en-US" dirty="0">
                <a:latin typeface="Calibri"/>
                <a:ea typeface="ＭＳ Ｐゴシック"/>
                <a:cs typeface="Calibri"/>
              </a:rPr>
              <a:t> </a:t>
            </a:r>
            <a:endParaRPr lang="en-US" dirty="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latin typeface="Calibri"/>
                <a:ea typeface="Calibri"/>
                <a:cs typeface="Calibri"/>
              </a:rPr>
              <a:t> Low Cost:</a:t>
            </a:r>
            <a:r>
              <a:rPr lang="en-US" dirty="0">
                <a:latin typeface="Calibri"/>
                <a:ea typeface="Calibri"/>
                <a:cs typeface="Calibri"/>
              </a:rPr>
              <a:t> Uses open-source AI/GIS tools and existing data sources. </a:t>
            </a:r>
            <a:endParaRPr lang="en-US" dirty="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latin typeface="Calibri"/>
                <a:ea typeface="Calibri"/>
                <a:cs typeface="Calibri"/>
              </a:rPr>
              <a:t>Scalable:</a:t>
            </a:r>
            <a:r>
              <a:rPr lang="en-US" dirty="0">
                <a:latin typeface="Calibri"/>
                <a:ea typeface="Calibri"/>
                <a:cs typeface="Calibri"/>
              </a:rPr>
              <a:t> Pilot in high-risk districts → expand across the </a:t>
            </a:r>
            <a:r>
              <a:rPr lang="en-US" b="1" dirty="0">
                <a:latin typeface="Calibri"/>
                <a:ea typeface="Calibri"/>
                <a:cs typeface="Calibri"/>
              </a:rPr>
              <a:t>entire NER</a:t>
            </a:r>
            <a:r>
              <a:rPr lang="en-US" dirty="0">
                <a:latin typeface="Calibri"/>
                <a:ea typeface="Calibri"/>
                <a:cs typeface="Calibri"/>
              </a:rPr>
              <a:t>.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latin typeface="Calibri"/>
                <a:ea typeface="Calibri"/>
                <a:cs typeface="Calibri"/>
              </a:rPr>
              <a:t>Easy Adoption:</a:t>
            </a:r>
            <a:r>
              <a:rPr lang="en-US" dirty="0">
                <a:latin typeface="Calibri"/>
                <a:ea typeface="Calibri"/>
                <a:cs typeface="Calibri"/>
              </a:rPr>
              <a:t> Multilingual alerts through </a:t>
            </a:r>
            <a:r>
              <a:rPr lang="en-US" b="1" dirty="0">
                <a:latin typeface="Calibri"/>
                <a:ea typeface="Calibri"/>
                <a:cs typeface="Calibri"/>
              </a:rPr>
              <a:t>SMS + mobile application</a:t>
            </a:r>
            <a:r>
              <a:rPr lang="en-US" dirty="0">
                <a:latin typeface="Calibri"/>
                <a:ea typeface="Calibri"/>
                <a:cs typeface="Calibri"/>
              </a:rPr>
              <a:t>.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latin typeface="Calibri"/>
                <a:ea typeface="Calibri"/>
                <a:cs typeface="Calibri"/>
              </a:rPr>
              <a:t>Sustainable:</a:t>
            </a:r>
            <a:r>
              <a:rPr lang="en-US" dirty="0">
                <a:latin typeface="Calibri"/>
                <a:ea typeface="Calibri"/>
                <a:cs typeface="Calibri"/>
              </a:rPr>
              <a:t> Continuous learning from new sensor, weather and incident data.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latin typeface="Calibri"/>
                <a:ea typeface="Calibri"/>
                <a:cs typeface="Calibri"/>
              </a:rPr>
              <a:t>High Value:</a:t>
            </a:r>
            <a:r>
              <a:rPr lang="en-US" dirty="0">
                <a:latin typeface="Calibri"/>
                <a:ea typeface="Calibri"/>
                <a:cs typeface="Calibri"/>
              </a:rPr>
              <a:t> Enables </a:t>
            </a:r>
            <a:r>
              <a:rPr lang="en-US" b="1" dirty="0">
                <a:latin typeface="Calibri"/>
                <a:ea typeface="Calibri"/>
                <a:cs typeface="Calibri"/>
              </a:rPr>
              <a:t>preventive action instead of reactive disaster management</a:t>
            </a:r>
            <a:r>
              <a:rPr lang="en-US" dirty="0">
                <a:latin typeface="Calibri"/>
                <a:ea typeface="Calibri"/>
                <a:cs typeface="Calibri"/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3304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Arial"/>
                <a:ea typeface="Calibri"/>
                <a:cs typeface="Arial"/>
              </a:rPr>
              <a:t>Problem Compilers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17432" name="Diagram 17431">
            <a:extLst>
              <a:ext uri="{FF2B5EF4-FFF2-40B4-BE49-F238E27FC236}">
                <a16:creationId xmlns:a16="http://schemas.microsoft.com/office/drawing/2014/main" id="{0F0BD351-2E24-44D3-608B-FC14E19E90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8999327"/>
              </p:ext>
            </p:extLst>
          </p:nvPr>
        </p:nvGraphicFramePr>
        <p:xfrm>
          <a:off x="1649106" y="1099782"/>
          <a:ext cx="8745940" cy="4942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271263"/>
            <a:ext cx="11284613" cy="4955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algn="just">
              <a:defRPr/>
            </a:pPr>
            <a:r>
              <a:rPr lang="en-US" sz="2000" dirty="0">
                <a:solidFill>
                  <a:prstClr val="black"/>
                </a:solidFill>
                <a:latin typeface="Arial"/>
                <a:ea typeface="Calibri"/>
                <a:cs typeface="Arial"/>
              </a:rPr>
              <a:t>1. ISRO/NRSC – Landslide Atlas of India </a:t>
            </a:r>
            <a:endParaRPr lang="en-US" sz="2000" dirty="0">
              <a:solidFill>
                <a:prstClr val="black"/>
              </a:solidFill>
              <a:latin typeface="Arial"/>
              <a:cs typeface="Arial"/>
            </a:endParaRPr>
          </a:p>
          <a:p>
            <a:pPr algn="just"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https://www.isro.gov.in/Landslide_Atlas_India.html</a:t>
            </a:r>
            <a:endParaRPr lang="en-US" dirty="0">
              <a:solidFill>
                <a:prstClr val="black"/>
              </a:solidFill>
              <a:latin typeface="Calibri"/>
              <a:cs typeface="Calibri"/>
            </a:endParaRPr>
          </a:p>
          <a:p>
            <a:pPr algn="just">
              <a:defRPr/>
            </a:pPr>
            <a:endParaRPr lang="en-US" sz="2000">
              <a:solidFill>
                <a:prstClr val="black"/>
              </a:solidFill>
              <a:latin typeface="Arial"/>
              <a:cs typeface="Arial"/>
            </a:endParaRPr>
          </a:p>
          <a:p>
            <a:pPr algn="just">
              <a:defRPr/>
            </a:pPr>
            <a:r>
              <a:rPr lang="en-US" sz="2000" dirty="0">
                <a:solidFill>
                  <a:prstClr val="black"/>
                </a:solidFill>
                <a:latin typeface="Arial"/>
                <a:ea typeface="Calibri"/>
                <a:cs typeface="Arial"/>
              </a:rPr>
              <a:t>2. NASA – LHASA Global Landslide Nowcast</a:t>
            </a:r>
            <a:endParaRPr lang="en-US" sz="2000" dirty="0">
              <a:solidFill>
                <a:prstClr val="black"/>
              </a:solidFill>
              <a:latin typeface="Arial"/>
              <a:cs typeface="Arial"/>
            </a:endParaRPr>
          </a:p>
          <a:p>
            <a:pPr algn="just"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http://gis.earthdata.nasa.gov/portal/home/item.html?id=9e65a60a305b458bba6330baa93c0238</a:t>
            </a:r>
            <a:endParaRPr lang="en-US" dirty="0">
              <a:solidFill>
                <a:prstClr val="black"/>
              </a:solidFill>
            </a:endParaRPr>
          </a:p>
          <a:p>
            <a:pPr algn="just">
              <a:defRPr/>
            </a:pPr>
            <a:endParaRPr lang="en-US" sz="2000">
              <a:latin typeface="Arial"/>
              <a:cs typeface="Arial"/>
            </a:endParaRPr>
          </a:p>
          <a:p>
            <a:pPr algn="just">
              <a:defRPr/>
            </a:pPr>
            <a:r>
              <a:rPr lang="en-US" sz="2000" dirty="0">
                <a:solidFill>
                  <a:prstClr val="black"/>
                </a:solidFill>
                <a:latin typeface="Arial"/>
                <a:ea typeface="Calibri"/>
                <a:cs typeface="Arial"/>
              </a:rPr>
              <a:t>3. ISRO – North-East India Applications</a:t>
            </a:r>
            <a:endParaRPr lang="en-US" sz="2000" dirty="0">
              <a:solidFill>
                <a:prstClr val="black"/>
              </a:solidFill>
              <a:latin typeface="Arial"/>
              <a:cs typeface="Arial"/>
            </a:endParaRPr>
          </a:p>
          <a:p>
            <a:pPr algn="just"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https://www.isro.gov.in/North-EastIndiaRegionSpecificApplications.html</a:t>
            </a:r>
            <a:endParaRPr lang="en-US" dirty="0">
              <a:solidFill>
                <a:prstClr val="black"/>
              </a:solidFill>
              <a:latin typeface="Calibri"/>
              <a:cs typeface="Calibri"/>
            </a:endParaRPr>
          </a:p>
          <a:p>
            <a:pPr algn="just">
              <a:defRPr/>
            </a:pPr>
            <a:endParaRPr lang="en-US" sz="2000">
              <a:latin typeface="Arial"/>
              <a:cs typeface="Arial"/>
            </a:endParaRPr>
          </a:p>
          <a:p>
            <a:pPr algn="just">
              <a:defRPr/>
            </a:pPr>
            <a:r>
              <a:rPr lang="en-US" sz="2000" dirty="0">
                <a:solidFill>
                  <a:prstClr val="black"/>
                </a:solidFill>
                <a:latin typeface="Arial"/>
                <a:ea typeface="Calibri"/>
                <a:cs typeface="Arial"/>
              </a:rPr>
              <a:t>4. ISRO – GIS/Landslide Research</a:t>
            </a:r>
            <a:endParaRPr lang="en-US" sz="2000" dirty="0">
              <a:solidFill>
                <a:prstClr val="black"/>
              </a:solidFill>
              <a:latin typeface="Arial"/>
              <a:cs typeface="Arial"/>
            </a:endParaRPr>
          </a:p>
          <a:p>
            <a:pPr algn="just">
              <a:defRPr/>
            </a:pPr>
            <a:r>
              <a:rPr lang="en-US" sz="200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ISRO uses GIS and satellite remote sensing to map and monitor landslide risks across vulnerable regions in India through the National Remote Sensing Centre (NRSC)</a:t>
            </a:r>
            <a:r>
              <a:rPr lang="en-US" sz="360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.</a:t>
            </a:r>
            <a:endParaRPr lang="en-US" sz="36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en-US" sz="2000" dirty="0">
                <a:solidFill>
                  <a:prstClr val="black"/>
                </a:solidFill>
                <a:latin typeface="Arial"/>
                <a:ea typeface="Calibri"/>
                <a:cs typeface="Arial"/>
                <a:hlinkClick r:id="rId3"/>
              </a:rPr>
              <a:t>https://www.isro.gov.in/SpaceApplications.html</a:t>
            </a:r>
            <a:endParaRPr lang="en-US" sz="2000">
              <a:solidFill>
                <a:prstClr val="black"/>
              </a:solidFill>
              <a:latin typeface="Arial"/>
              <a:cs typeface="Arial"/>
              <a:hlinkClick r:id="rId3"/>
            </a:endParaRPr>
          </a:p>
          <a:p>
            <a:pPr algn="just">
              <a:defRPr/>
            </a:pPr>
            <a:endParaRPr lang="en-US" sz="2000" dirty="0">
              <a:solidFill>
                <a:prstClr val="black"/>
              </a:solidFill>
              <a:latin typeface="Arial"/>
              <a:ea typeface="Calibri"/>
              <a:cs typeface="Arial"/>
            </a:endParaRPr>
          </a:p>
          <a:p>
            <a:pPr algn="just"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5.</a:t>
            </a:r>
            <a:r>
              <a:rPr lang="en-US" sz="2000" dirty="0">
                <a:solidFill>
                  <a:prstClr val="black"/>
                </a:solidFill>
                <a:latin typeface="Arial"/>
                <a:ea typeface="Calibri"/>
                <a:cs typeface="Arial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/>
                <a:ea typeface="Calibri"/>
                <a:cs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https://github.com/nasa/LHASA/tree/master/</a:t>
            </a:r>
            <a:endParaRPr lang="en-US" sz="2000" dirty="0">
              <a:solidFill>
                <a:prstClr val="black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27170" cy="818707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Problem Compilers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684</Words>
  <Application>Microsoft Office PowerPoint</Application>
  <PresentationFormat>Widescreen</PresentationFormat>
  <Paragraphs>105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AI-Powered Predictive Landslide Intelligence Platform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Bhagyoday Jadhav</cp:lastModifiedBy>
  <cp:revision>112</cp:revision>
  <dcterms:created xsi:type="dcterms:W3CDTF">2013-12-12T18:46:50Z</dcterms:created>
  <dcterms:modified xsi:type="dcterms:W3CDTF">2026-09-09T06:25:02Z</dcterms:modified>
  <cp:category/>
</cp:coreProperties>
</file>